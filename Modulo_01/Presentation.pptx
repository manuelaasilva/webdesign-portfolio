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006A44D-4873-4BA6-B330-7873CB488B49}" v="201" dt="2026-07-20T17:30:04.691"/>
    <p1510:client id="{EC236E50-1A95-41B9-AF9C-A0F31EE8805A}" v="241" dt="2026-07-20T18:25:34.59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59" autoAdjust="0"/>
    <p:restoredTop sz="94660"/>
  </p:normalViewPr>
  <p:slideViewPr>
    <p:cSldViewPr snapToGrid="0">
      <p:cViewPr varScale="1">
        <p:scale>
          <a:sx n="61" d="100"/>
          <a:sy n="61" d="100"/>
        </p:scale>
        <p:origin x="84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20.07.2026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776838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20.07.2026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40052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20.07.2026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813757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20.07.2026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246138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20.07.2026</a:t>
            </a:fld>
            <a:endParaRPr lang="de-DE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944210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20.07.2026</a:t>
            </a:fld>
            <a:endParaRPr lang="de-DE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085334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20.07.2026</a:t>
            </a:fld>
            <a:endParaRPr lang="de-DE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782815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20.07.2026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178365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20.07.2026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455663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20.07.2026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465880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20.07.2026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063975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0E51C7C-CEA3-4CAA-BE4B-344879E7C377}" type="datetimeFigureOut">
              <a:rPr lang="de-DE" smtClean="0"/>
              <a:t>20.07.2026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757469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42649"/>
            <a:ext cx="9144000" cy="442686"/>
          </a:xfrm>
        </p:spPr>
        <p:txBody>
          <a:bodyPr>
            <a:normAutofit/>
          </a:bodyPr>
          <a:lstStyle/>
          <a:p>
            <a:r>
              <a:rPr lang="de-DE" sz="2400" err="1">
                <a:solidFill>
                  <a:schemeClr val="accent5">
                    <a:lumMod val="40000"/>
                    <a:lumOff val="60000"/>
                  </a:schemeClr>
                </a:solidFill>
              </a:rPr>
              <a:t>Atividade</a:t>
            </a:r>
            <a:r>
              <a:rPr lang="de-DE" sz="2400">
                <a:solidFill>
                  <a:schemeClr val="accent5">
                    <a:lumMod val="40000"/>
                    <a:lumOff val="60000"/>
                  </a:schemeClr>
                </a:solidFill>
              </a:rPr>
              <a:t>:</a:t>
            </a:r>
            <a:r>
              <a:rPr lang="de-DE" sz="24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 </a:t>
            </a:r>
            <a:r>
              <a:rPr lang="de-DE" sz="2400" err="1"/>
              <a:t>Agência</a:t>
            </a:r>
            <a:r>
              <a:rPr lang="de-DE" sz="2400"/>
              <a:t> de Propaganda</a:t>
            </a:r>
            <a:r>
              <a:rPr lang="de-DE" sz="2400" dirty="0"/>
              <a:t> e Marketing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" y="590325"/>
            <a:ext cx="12191999" cy="661964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de-DE" sz="16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Nomes: </a:t>
            </a:r>
            <a:r>
              <a:rPr lang="de-DE" sz="1600" dirty="0"/>
              <a:t>Manuela Ap./Luan </a:t>
            </a:r>
            <a:r>
              <a:rPr lang="de-DE" sz="1600"/>
              <a:t>Silva/Micaelly Satiro</a:t>
            </a:r>
            <a:endParaRPr lang="de-DE" sz="1600" dirty="0"/>
          </a:p>
          <a:p>
            <a:r>
              <a:rPr lang="de-DE" sz="2000" b="1" i="1" dirty="0" err="1">
                <a:solidFill>
                  <a:schemeClr val="accent5">
                    <a:lumMod val="40000"/>
                    <a:lumOff val="60000"/>
                  </a:schemeClr>
                </a:solidFill>
                <a:latin typeface="Bookman Old Style"/>
              </a:rPr>
              <a:t>Empresa</a:t>
            </a:r>
            <a:r>
              <a:rPr lang="de-DE" sz="2000" b="1" i="1" dirty="0">
                <a:solidFill>
                  <a:schemeClr val="accent5">
                    <a:lumMod val="40000"/>
                    <a:lumOff val="60000"/>
                  </a:schemeClr>
                </a:solidFill>
                <a:latin typeface="Bookman Old Style"/>
              </a:rPr>
              <a:t>: </a:t>
            </a:r>
            <a:r>
              <a:rPr lang="de-DE" sz="2000" b="1" i="1" dirty="0" err="1">
                <a:solidFill>
                  <a:schemeClr val="accent5">
                    <a:lumMod val="40000"/>
                    <a:lumOff val="60000"/>
                  </a:schemeClr>
                </a:solidFill>
                <a:latin typeface="Bookman Old Style"/>
              </a:rPr>
              <a:t>BurguerMax</a:t>
            </a:r>
            <a:endParaRPr lang="de-DE" sz="2000" b="1" i="1" dirty="0">
              <a:solidFill>
                <a:schemeClr val="accent5">
                  <a:lumMod val="40000"/>
                  <a:lumOff val="60000"/>
                </a:schemeClr>
              </a:solidFill>
              <a:latin typeface="Bookman Old Style"/>
            </a:endParaRPr>
          </a:p>
          <a:p>
            <a:pPr algn="l"/>
            <a:r>
              <a:rPr lang="de-DE" sz="1600" b="1" i="1" dirty="0" err="1">
                <a:solidFill>
                  <a:schemeClr val="accent5">
                    <a:lumMod val="40000"/>
                    <a:lumOff val="60000"/>
                  </a:schemeClr>
                </a:solidFill>
                <a:latin typeface="Aptos"/>
                <a:ea typeface="Calibri"/>
                <a:cs typeface="Calibri"/>
              </a:rPr>
              <a:t>Perguntas</a:t>
            </a:r>
            <a:r>
              <a:rPr lang="de-DE" sz="1600" b="1" i="1" dirty="0">
                <a:solidFill>
                  <a:schemeClr val="accent5">
                    <a:lumMod val="40000"/>
                    <a:lumOff val="60000"/>
                  </a:schemeClr>
                </a:solidFill>
                <a:latin typeface="Aptos"/>
                <a:ea typeface="Calibri"/>
                <a:cs typeface="Calibri"/>
              </a:rPr>
              <a:t> </a:t>
            </a:r>
            <a:r>
              <a:rPr lang="de-DE" sz="1600" b="1" i="1" dirty="0" err="1">
                <a:solidFill>
                  <a:schemeClr val="accent5">
                    <a:lumMod val="40000"/>
                    <a:lumOff val="60000"/>
                  </a:schemeClr>
                </a:solidFill>
                <a:latin typeface="Aptos"/>
                <a:ea typeface="Calibri"/>
                <a:cs typeface="Calibri"/>
              </a:rPr>
              <a:t>para</a:t>
            </a:r>
            <a:r>
              <a:rPr lang="de-DE" sz="1600" b="1" i="1" dirty="0">
                <a:solidFill>
                  <a:schemeClr val="accent5">
                    <a:lumMod val="40000"/>
                    <a:lumOff val="60000"/>
                  </a:schemeClr>
                </a:solidFill>
                <a:latin typeface="Aptos"/>
                <a:ea typeface="Calibri"/>
                <a:cs typeface="Calibri"/>
              </a:rPr>
              <a:t> </a:t>
            </a:r>
            <a:r>
              <a:rPr lang="de-DE" sz="1600" b="1" i="1" dirty="0" err="1">
                <a:solidFill>
                  <a:schemeClr val="accent5">
                    <a:lumMod val="40000"/>
                    <a:lumOff val="60000"/>
                  </a:schemeClr>
                </a:solidFill>
                <a:latin typeface="Aptos"/>
                <a:ea typeface="Calibri"/>
                <a:cs typeface="Calibri"/>
              </a:rPr>
              <a:t>compreender</a:t>
            </a:r>
            <a:r>
              <a:rPr lang="de-DE" sz="1600" b="1" i="1" dirty="0">
                <a:solidFill>
                  <a:schemeClr val="accent5">
                    <a:lumMod val="40000"/>
                    <a:lumOff val="60000"/>
                  </a:schemeClr>
                </a:solidFill>
                <a:latin typeface="Aptos"/>
                <a:ea typeface="Calibri"/>
                <a:cs typeface="Calibri"/>
              </a:rPr>
              <a:t> as </a:t>
            </a:r>
            <a:r>
              <a:rPr lang="de-DE" sz="1600" b="1" i="1" dirty="0" err="1">
                <a:solidFill>
                  <a:schemeClr val="accent5">
                    <a:lumMod val="40000"/>
                    <a:lumOff val="60000"/>
                  </a:schemeClr>
                </a:solidFill>
                <a:latin typeface="Aptos"/>
                <a:ea typeface="Calibri"/>
                <a:cs typeface="Calibri"/>
              </a:rPr>
              <a:t>necessidades</a:t>
            </a:r>
            <a:r>
              <a:rPr lang="de-DE" sz="1600" b="1" i="1" dirty="0">
                <a:solidFill>
                  <a:schemeClr val="accent5">
                    <a:lumMod val="40000"/>
                    <a:lumOff val="60000"/>
                  </a:schemeClr>
                </a:solidFill>
                <a:latin typeface="Aptos"/>
                <a:ea typeface="Calibri"/>
                <a:cs typeface="Calibri"/>
              </a:rPr>
              <a:t> do </a:t>
            </a:r>
            <a:r>
              <a:rPr lang="de-DE" sz="1600" b="1" i="1" dirty="0" err="1">
                <a:solidFill>
                  <a:schemeClr val="accent5">
                    <a:lumMod val="40000"/>
                    <a:lumOff val="60000"/>
                  </a:schemeClr>
                </a:solidFill>
                <a:latin typeface="Aptos"/>
                <a:ea typeface="Calibri"/>
                <a:cs typeface="Calibri"/>
              </a:rPr>
              <a:t>cliente</a:t>
            </a:r>
            <a:r>
              <a:rPr lang="de-DE" sz="1600" b="1" i="1" dirty="0">
                <a:solidFill>
                  <a:schemeClr val="accent5">
                    <a:lumMod val="40000"/>
                    <a:lumOff val="60000"/>
                  </a:schemeClr>
                </a:solidFill>
                <a:latin typeface="Aptos"/>
                <a:ea typeface="Calibri"/>
                <a:cs typeface="Calibri"/>
              </a:rPr>
              <a:t>:</a:t>
            </a:r>
          </a:p>
          <a:p>
            <a:pPr marL="285750" indent="-285750" algn="l">
              <a:buChar char="•"/>
            </a:pPr>
            <a:r>
              <a:rPr lang="de-DE" sz="1400" dirty="0">
                <a:latin typeface="Aptos Display"/>
                <a:ea typeface="+mn-lt"/>
                <a:cs typeface="+mn-lt"/>
              </a:rPr>
              <a:t>Qual </a:t>
            </a:r>
            <a:r>
              <a:rPr lang="de-DE" sz="1400" dirty="0" err="1">
                <a:latin typeface="Aptos Display"/>
                <a:ea typeface="+mn-lt"/>
                <a:cs typeface="+mn-lt"/>
              </a:rPr>
              <a:t>tipo</a:t>
            </a:r>
            <a:r>
              <a:rPr lang="de-DE" sz="1400" dirty="0">
                <a:latin typeface="Aptos Display"/>
                <a:ea typeface="+mn-lt"/>
                <a:cs typeface="+mn-lt"/>
              </a:rPr>
              <a:t> de </a:t>
            </a:r>
            <a:r>
              <a:rPr lang="de-DE" sz="1400" dirty="0" err="1">
                <a:latin typeface="Aptos Display"/>
                <a:ea typeface="+mn-lt"/>
                <a:cs typeface="+mn-lt"/>
              </a:rPr>
              <a:t>hambúrguer</a:t>
            </a:r>
            <a:r>
              <a:rPr lang="de-DE" sz="1400" dirty="0">
                <a:latin typeface="Aptos Display"/>
                <a:ea typeface="+mn-lt"/>
                <a:cs typeface="+mn-lt"/>
              </a:rPr>
              <a:t> </a:t>
            </a:r>
            <a:r>
              <a:rPr lang="de-DE" sz="1400" dirty="0" err="1">
                <a:latin typeface="Aptos Display"/>
                <a:ea typeface="+mn-lt"/>
                <a:cs typeface="+mn-lt"/>
              </a:rPr>
              <a:t>você</a:t>
            </a:r>
            <a:r>
              <a:rPr lang="de-DE" sz="1400" dirty="0">
                <a:latin typeface="Aptos Display"/>
                <a:ea typeface="+mn-lt"/>
                <a:cs typeface="+mn-lt"/>
              </a:rPr>
              <a:t> </a:t>
            </a:r>
            <a:r>
              <a:rPr lang="de-DE" sz="1400" dirty="0" err="1">
                <a:latin typeface="Aptos Display"/>
                <a:ea typeface="+mn-lt"/>
                <a:cs typeface="+mn-lt"/>
              </a:rPr>
              <a:t>prefere</a:t>
            </a:r>
            <a:r>
              <a:rPr lang="de-DE" sz="1400" dirty="0">
                <a:latin typeface="Aptos Display"/>
                <a:ea typeface="+mn-lt"/>
                <a:cs typeface="+mn-lt"/>
              </a:rPr>
              <a:t>?</a:t>
            </a:r>
            <a:endParaRPr lang="de-DE" sz="1400">
              <a:latin typeface="Aptos Display"/>
            </a:endParaRPr>
          </a:p>
          <a:p>
            <a:pPr marL="285750" indent="-285750" algn="l">
              <a:buChar char="•"/>
            </a:pPr>
            <a:r>
              <a:rPr lang="de-DE" sz="1400" dirty="0" err="1">
                <a:latin typeface="Aptos Display"/>
                <a:ea typeface="+mn-lt"/>
                <a:cs typeface="+mn-lt"/>
              </a:rPr>
              <a:t>Você</a:t>
            </a:r>
            <a:r>
              <a:rPr lang="de-DE" sz="1400" dirty="0">
                <a:latin typeface="Aptos Display"/>
                <a:ea typeface="+mn-lt"/>
                <a:cs typeface="+mn-lt"/>
              </a:rPr>
              <a:t> </a:t>
            </a:r>
            <a:r>
              <a:rPr lang="de-DE" sz="1400" dirty="0" err="1">
                <a:latin typeface="Aptos Display"/>
                <a:ea typeface="+mn-lt"/>
                <a:cs typeface="+mn-lt"/>
              </a:rPr>
              <a:t>prefere</a:t>
            </a:r>
            <a:r>
              <a:rPr lang="de-DE" sz="1400" dirty="0">
                <a:latin typeface="Aptos Display"/>
                <a:ea typeface="+mn-lt"/>
                <a:cs typeface="+mn-lt"/>
              </a:rPr>
              <a:t> </a:t>
            </a:r>
            <a:r>
              <a:rPr lang="de-DE" sz="1400" dirty="0" err="1">
                <a:latin typeface="Aptos Display"/>
                <a:ea typeface="+mn-lt"/>
                <a:cs typeface="+mn-lt"/>
              </a:rPr>
              <a:t>retirada</a:t>
            </a:r>
            <a:r>
              <a:rPr lang="de-DE" sz="1400" dirty="0">
                <a:latin typeface="Aptos Display"/>
                <a:ea typeface="+mn-lt"/>
                <a:cs typeface="+mn-lt"/>
              </a:rPr>
              <a:t> </a:t>
            </a:r>
            <a:r>
              <a:rPr lang="de-DE" sz="1400" dirty="0" err="1">
                <a:latin typeface="Aptos Display"/>
                <a:ea typeface="+mn-lt"/>
                <a:cs typeface="+mn-lt"/>
              </a:rPr>
              <a:t>ou</a:t>
            </a:r>
            <a:r>
              <a:rPr lang="de-DE" sz="1400" dirty="0">
                <a:latin typeface="Aptos Display"/>
                <a:ea typeface="+mn-lt"/>
                <a:cs typeface="+mn-lt"/>
              </a:rPr>
              <a:t> </a:t>
            </a:r>
            <a:r>
              <a:rPr lang="de-DE" sz="1400" dirty="0" err="1">
                <a:latin typeface="Aptos Display"/>
                <a:ea typeface="+mn-lt"/>
                <a:cs typeface="+mn-lt"/>
              </a:rPr>
              <a:t>entrega</a:t>
            </a:r>
            <a:r>
              <a:rPr lang="de-DE" sz="1400" dirty="0">
                <a:latin typeface="Aptos Display"/>
                <a:ea typeface="+mn-lt"/>
                <a:cs typeface="+mn-lt"/>
              </a:rPr>
              <a:t>?</a:t>
            </a:r>
            <a:endParaRPr lang="de-DE" sz="1400">
              <a:latin typeface="Aptos Display"/>
            </a:endParaRPr>
          </a:p>
          <a:p>
            <a:pPr marL="285750" indent="-285750" algn="l">
              <a:buChar char="•"/>
            </a:pPr>
            <a:r>
              <a:rPr lang="de-DE" sz="1400" dirty="0">
                <a:latin typeface="Aptos Display"/>
                <a:ea typeface="+mn-lt"/>
                <a:cs typeface="+mn-lt"/>
              </a:rPr>
              <a:t>Qual forma de </a:t>
            </a:r>
            <a:r>
              <a:rPr lang="de-DE" sz="1400" dirty="0" err="1">
                <a:latin typeface="Aptos Display"/>
                <a:ea typeface="+mn-lt"/>
                <a:cs typeface="+mn-lt"/>
              </a:rPr>
              <a:t>pagamento</a:t>
            </a:r>
            <a:r>
              <a:rPr lang="de-DE" sz="1400" dirty="0">
                <a:latin typeface="Aptos Display"/>
                <a:ea typeface="+mn-lt"/>
                <a:cs typeface="+mn-lt"/>
              </a:rPr>
              <a:t> </a:t>
            </a:r>
            <a:r>
              <a:rPr lang="de-DE" sz="1400" dirty="0" err="1">
                <a:latin typeface="Aptos Display"/>
                <a:ea typeface="+mn-lt"/>
                <a:cs typeface="+mn-lt"/>
              </a:rPr>
              <a:t>deseja</a:t>
            </a:r>
            <a:r>
              <a:rPr lang="de-DE" sz="1400" dirty="0">
                <a:latin typeface="Aptos Display"/>
                <a:ea typeface="+mn-lt"/>
                <a:cs typeface="+mn-lt"/>
              </a:rPr>
              <a:t> </a:t>
            </a:r>
            <a:r>
              <a:rPr lang="de-DE" sz="1400" dirty="0" err="1">
                <a:latin typeface="Aptos Display"/>
                <a:ea typeface="+mn-lt"/>
                <a:cs typeface="+mn-lt"/>
              </a:rPr>
              <a:t>usar</a:t>
            </a:r>
            <a:r>
              <a:rPr lang="de-DE" sz="1400" dirty="0">
                <a:latin typeface="Aptos Display"/>
                <a:ea typeface="+mn-lt"/>
                <a:cs typeface="+mn-lt"/>
              </a:rPr>
              <a:t>?</a:t>
            </a:r>
            <a:endParaRPr lang="de-DE" sz="1400">
              <a:latin typeface="Aptos Display"/>
            </a:endParaRPr>
          </a:p>
          <a:p>
            <a:pPr marL="285750" indent="-285750" algn="l">
              <a:buChar char="•"/>
            </a:pPr>
            <a:r>
              <a:rPr lang="de-DE" sz="1400" dirty="0" err="1">
                <a:latin typeface="Aptos Display"/>
                <a:ea typeface="+mn-lt"/>
                <a:cs typeface="+mn-lt"/>
              </a:rPr>
              <a:t>Com</a:t>
            </a:r>
            <a:r>
              <a:rPr lang="de-DE" sz="1400" dirty="0">
                <a:latin typeface="Aptos Display"/>
                <a:ea typeface="+mn-lt"/>
                <a:cs typeface="+mn-lt"/>
              </a:rPr>
              <a:t> </a:t>
            </a:r>
            <a:r>
              <a:rPr lang="de-DE" sz="1400" dirty="0" err="1">
                <a:latin typeface="Aptos Display"/>
                <a:ea typeface="+mn-lt"/>
                <a:cs typeface="+mn-lt"/>
              </a:rPr>
              <a:t>que</a:t>
            </a:r>
            <a:r>
              <a:rPr lang="de-DE" sz="1400" dirty="0">
                <a:latin typeface="Aptos Display"/>
                <a:ea typeface="+mn-lt"/>
                <a:cs typeface="+mn-lt"/>
              </a:rPr>
              <a:t> </a:t>
            </a:r>
            <a:r>
              <a:rPr lang="de-DE" sz="1400" dirty="0" err="1">
                <a:latin typeface="Aptos Display"/>
                <a:ea typeface="+mn-lt"/>
                <a:cs typeface="+mn-lt"/>
              </a:rPr>
              <a:t>frequência</a:t>
            </a:r>
            <a:r>
              <a:rPr lang="de-DE" sz="1400" dirty="0">
                <a:latin typeface="Aptos Display"/>
                <a:ea typeface="+mn-lt"/>
                <a:cs typeface="+mn-lt"/>
              </a:rPr>
              <a:t> pede </a:t>
            </a:r>
            <a:r>
              <a:rPr lang="de-DE" sz="1400" dirty="0" err="1">
                <a:latin typeface="Aptos Display"/>
                <a:ea typeface="+mn-lt"/>
                <a:cs typeface="+mn-lt"/>
              </a:rPr>
              <a:t>hambúrguer</a:t>
            </a:r>
            <a:r>
              <a:rPr lang="de-DE" sz="1400" dirty="0">
                <a:latin typeface="Aptos Display"/>
                <a:ea typeface="+mn-lt"/>
                <a:cs typeface="+mn-lt"/>
              </a:rPr>
              <a:t>?</a:t>
            </a:r>
            <a:endParaRPr lang="de-DE" sz="1400">
              <a:latin typeface="Aptos Display"/>
            </a:endParaRPr>
          </a:p>
          <a:p>
            <a:pPr marL="285750" indent="-285750" algn="l">
              <a:buChar char="•"/>
            </a:pPr>
            <a:r>
              <a:rPr lang="de-DE" sz="1400" dirty="0" err="1">
                <a:latin typeface="Aptos Display"/>
                <a:ea typeface="+mn-lt"/>
                <a:cs typeface="+mn-lt"/>
              </a:rPr>
              <a:t>Gostaria</a:t>
            </a:r>
            <a:r>
              <a:rPr lang="de-DE" sz="1400" dirty="0">
                <a:latin typeface="Aptos Display"/>
                <a:ea typeface="+mn-lt"/>
                <a:cs typeface="+mn-lt"/>
              </a:rPr>
              <a:t> de </a:t>
            </a:r>
            <a:r>
              <a:rPr lang="de-DE" sz="1400" dirty="0" err="1">
                <a:latin typeface="Aptos Display"/>
                <a:ea typeface="+mn-lt"/>
                <a:cs typeface="+mn-lt"/>
              </a:rPr>
              <a:t>receber</a:t>
            </a:r>
            <a:r>
              <a:rPr lang="de-DE" sz="1400" dirty="0">
                <a:latin typeface="Aptos Display"/>
                <a:ea typeface="+mn-lt"/>
                <a:cs typeface="+mn-lt"/>
              </a:rPr>
              <a:t> </a:t>
            </a:r>
            <a:r>
              <a:rPr lang="de-DE" sz="1400" dirty="0" err="1">
                <a:latin typeface="Aptos Display"/>
                <a:ea typeface="+mn-lt"/>
                <a:cs typeface="+mn-lt"/>
              </a:rPr>
              <a:t>promoções</a:t>
            </a:r>
            <a:r>
              <a:rPr lang="de-DE" sz="1400" dirty="0">
                <a:latin typeface="Aptos Display"/>
                <a:ea typeface="+mn-lt"/>
                <a:cs typeface="+mn-lt"/>
              </a:rPr>
              <a:t> </a:t>
            </a:r>
            <a:r>
              <a:rPr lang="de-DE" sz="1400" dirty="0" err="1">
                <a:latin typeface="Aptos Display"/>
                <a:ea typeface="+mn-lt"/>
                <a:cs typeface="+mn-lt"/>
              </a:rPr>
              <a:t>pelo</a:t>
            </a:r>
            <a:r>
              <a:rPr lang="de-DE" sz="1400" dirty="0">
                <a:latin typeface="Aptos Display"/>
                <a:ea typeface="+mn-lt"/>
                <a:cs typeface="+mn-lt"/>
              </a:rPr>
              <a:t> WhatsApp?</a:t>
            </a:r>
            <a:endParaRPr lang="de-DE" sz="1400">
              <a:latin typeface="Aptos Display"/>
            </a:endParaRPr>
          </a:p>
          <a:p>
            <a:pPr marL="285750" indent="-285750" algn="l">
              <a:buChar char="•"/>
            </a:pPr>
            <a:r>
              <a:rPr lang="de-DE" sz="1400" dirty="0">
                <a:latin typeface="Aptos Display"/>
                <a:ea typeface="+mn-lt"/>
                <a:cs typeface="+mn-lt"/>
              </a:rPr>
              <a:t>Qual o tempo </a:t>
            </a:r>
            <a:r>
              <a:rPr lang="de-DE" sz="1400" dirty="0" err="1">
                <a:latin typeface="Aptos Display"/>
                <a:ea typeface="+mn-lt"/>
                <a:cs typeface="+mn-lt"/>
              </a:rPr>
              <a:t>máximo</a:t>
            </a:r>
            <a:r>
              <a:rPr lang="de-DE" sz="1400" dirty="0">
                <a:latin typeface="Aptos Display"/>
                <a:ea typeface="+mn-lt"/>
                <a:cs typeface="+mn-lt"/>
              </a:rPr>
              <a:t> de </a:t>
            </a:r>
            <a:r>
              <a:rPr lang="de-DE" sz="1400" dirty="0" err="1">
                <a:latin typeface="Aptos Display"/>
                <a:ea typeface="+mn-lt"/>
                <a:cs typeface="+mn-lt"/>
              </a:rPr>
              <a:t>entrega</a:t>
            </a:r>
            <a:r>
              <a:rPr lang="de-DE" sz="1400" dirty="0">
                <a:latin typeface="Aptos Display"/>
                <a:ea typeface="+mn-lt"/>
                <a:cs typeface="+mn-lt"/>
              </a:rPr>
              <a:t> </a:t>
            </a:r>
            <a:r>
              <a:rPr lang="de-DE" sz="1400" dirty="0" err="1">
                <a:latin typeface="Aptos Display"/>
                <a:ea typeface="+mn-lt"/>
                <a:cs typeface="+mn-lt"/>
              </a:rPr>
              <a:t>que</a:t>
            </a:r>
            <a:r>
              <a:rPr lang="de-DE" sz="1400" dirty="0">
                <a:latin typeface="Aptos Display"/>
                <a:ea typeface="+mn-lt"/>
                <a:cs typeface="+mn-lt"/>
              </a:rPr>
              <a:t> </a:t>
            </a:r>
            <a:r>
              <a:rPr lang="de-DE" sz="1400" dirty="0" err="1">
                <a:latin typeface="Aptos Display"/>
                <a:ea typeface="+mn-lt"/>
                <a:cs typeface="+mn-lt"/>
              </a:rPr>
              <a:t>considera</a:t>
            </a:r>
            <a:r>
              <a:rPr lang="de-DE" sz="1400" dirty="0">
                <a:latin typeface="Aptos Display"/>
                <a:ea typeface="+mn-lt"/>
                <a:cs typeface="+mn-lt"/>
              </a:rPr>
              <a:t> ideal?</a:t>
            </a:r>
          </a:p>
          <a:p>
            <a:pPr marL="285750" indent="-285750" algn="l">
              <a:buChar char="•"/>
            </a:pPr>
            <a:endParaRPr lang="de-DE" sz="1200" dirty="0">
              <a:latin typeface="Aptos Display"/>
            </a:endParaRPr>
          </a:p>
          <a:p>
            <a:pPr algn="l"/>
            <a:r>
              <a:rPr lang="de-DE" sz="1600" b="1" i="1" dirty="0" err="1">
                <a:solidFill>
                  <a:schemeClr val="accent5">
                    <a:lumMod val="40000"/>
                    <a:lumOff val="60000"/>
                  </a:schemeClr>
                </a:solidFill>
              </a:rPr>
              <a:t>Decisões</a:t>
            </a:r>
            <a:r>
              <a:rPr lang="de-DE" sz="1600" b="1" i="1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 do </a:t>
            </a:r>
            <a:r>
              <a:rPr lang="de-DE" sz="1600" b="1" i="1" dirty="0" err="1">
                <a:solidFill>
                  <a:schemeClr val="accent5">
                    <a:lumMod val="40000"/>
                    <a:lumOff val="60000"/>
                  </a:schemeClr>
                </a:solidFill>
              </a:rPr>
              <a:t>Projeto</a:t>
            </a:r>
            <a:r>
              <a:rPr lang="de-DE" sz="1600" b="1" i="1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:</a:t>
            </a:r>
          </a:p>
          <a:p>
            <a:pPr algn="l"/>
            <a:r>
              <a:rPr lang="de-DE" sz="1600" b="1" dirty="0" err="1">
                <a:ea typeface="+mn-lt"/>
                <a:cs typeface="+mn-lt"/>
              </a:rPr>
              <a:t>Área</a:t>
            </a:r>
            <a:r>
              <a:rPr lang="de-DE" sz="1600" b="1" dirty="0">
                <a:ea typeface="+mn-lt"/>
                <a:cs typeface="+mn-lt"/>
              </a:rPr>
              <a:t>:</a:t>
            </a:r>
            <a:r>
              <a:rPr lang="de-DE" sz="1600" dirty="0">
                <a:ea typeface="+mn-lt"/>
                <a:cs typeface="+mn-lt"/>
              </a:rPr>
              <a:t>                    </a:t>
            </a:r>
            <a:r>
              <a:rPr lang="de-DE" sz="1600" b="1" dirty="0" err="1">
                <a:ea typeface="+mn-lt"/>
                <a:cs typeface="+mn-lt"/>
              </a:rPr>
              <a:t>Decisão</a:t>
            </a:r>
            <a:r>
              <a:rPr lang="de-DE" sz="1600" b="1" dirty="0">
                <a:ea typeface="+mn-lt"/>
                <a:cs typeface="+mn-lt"/>
              </a:rPr>
              <a:t>:</a:t>
            </a:r>
            <a:endParaRPr lang="de-DE" sz="1600" b="1" dirty="0"/>
          </a:p>
          <a:p>
            <a:pPr algn="l"/>
            <a:r>
              <a:rPr lang="de-DE" sz="1400" dirty="0" err="1">
                <a:latin typeface="Aptos Display"/>
                <a:ea typeface="+mn-lt"/>
                <a:cs typeface="+mn-lt"/>
              </a:rPr>
              <a:t>Vendas</a:t>
            </a:r>
            <a:r>
              <a:rPr lang="de-DE" sz="1400" dirty="0">
                <a:latin typeface="Aptos Display"/>
                <a:ea typeface="+mn-lt"/>
                <a:cs typeface="+mn-lt"/>
              </a:rPr>
              <a:t>                     WhatsApp e </a:t>
            </a:r>
            <a:r>
              <a:rPr lang="de-DE" sz="1400" dirty="0" err="1">
                <a:latin typeface="Aptos Display"/>
                <a:ea typeface="+mn-lt"/>
                <a:cs typeface="+mn-lt"/>
              </a:rPr>
              <a:t>iFood</a:t>
            </a:r>
            <a:endParaRPr lang="de-DE" sz="1400">
              <a:latin typeface="Aptos Display"/>
            </a:endParaRPr>
          </a:p>
          <a:p>
            <a:pPr algn="l"/>
            <a:r>
              <a:rPr lang="de-DE" sz="1400" dirty="0" err="1">
                <a:latin typeface="Aptos Display"/>
                <a:ea typeface="+mn-lt"/>
                <a:cs typeface="+mn-lt"/>
              </a:rPr>
              <a:t>Divulgação</a:t>
            </a:r>
            <a:r>
              <a:rPr lang="de-DE" sz="1400" dirty="0">
                <a:latin typeface="Aptos Display"/>
                <a:ea typeface="+mn-lt"/>
                <a:cs typeface="+mn-lt"/>
              </a:rPr>
              <a:t>             Instagram e Facebook</a:t>
            </a:r>
            <a:endParaRPr lang="de-DE" sz="1400">
              <a:latin typeface="Aptos Display"/>
            </a:endParaRPr>
          </a:p>
          <a:p>
            <a:pPr algn="l"/>
            <a:r>
              <a:rPr lang="de-DE" sz="1400" dirty="0" err="1">
                <a:latin typeface="Aptos Display"/>
                <a:ea typeface="+mn-lt"/>
                <a:cs typeface="+mn-lt"/>
              </a:rPr>
              <a:t>Pagamento</a:t>
            </a:r>
            <a:r>
              <a:rPr lang="de-DE" sz="1400" dirty="0">
                <a:latin typeface="Aptos Display"/>
                <a:ea typeface="+mn-lt"/>
                <a:cs typeface="+mn-lt"/>
              </a:rPr>
              <a:t>            PIX, </a:t>
            </a:r>
            <a:r>
              <a:rPr lang="de-DE" sz="1400" dirty="0" err="1">
                <a:latin typeface="Aptos Display"/>
                <a:ea typeface="+mn-lt"/>
                <a:cs typeface="+mn-lt"/>
              </a:rPr>
              <a:t>cartão</a:t>
            </a:r>
            <a:r>
              <a:rPr lang="de-DE" sz="1400" dirty="0">
                <a:latin typeface="Aptos Display"/>
                <a:ea typeface="+mn-lt"/>
                <a:cs typeface="+mn-lt"/>
              </a:rPr>
              <a:t> e </a:t>
            </a:r>
            <a:r>
              <a:rPr lang="de-DE" sz="1400" dirty="0" err="1">
                <a:latin typeface="Aptos Display"/>
                <a:ea typeface="+mn-lt"/>
                <a:cs typeface="+mn-lt"/>
              </a:rPr>
              <a:t>dinheiro</a:t>
            </a:r>
            <a:endParaRPr lang="de-DE" sz="1400">
              <a:latin typeface="Aptos Display"/>
            </a:endParaRPr>
          </a:p>
          <a:p>
            <a:pPr algn="l"/>
            <a:r>
              <a:rPr lang="de-DE" sz="1400" dirty="0" err="1">
                <a:latin typeface="Aptos Display"/>
                <a:ea typeface="+mn-lt"/>
                <a:cs typeface="+mn-lt"/>
              </a:rPr>
              <a:t>Promoções</a:t>
            </a:r>
            <a:r>
              <a:rPr lang="de-DE" sz="1400" dirty="0">
                <a:latin typeface="Aptos Display"/>
                <a:ea typeface="+mn-lt"/>
                <a:cs typeface="+mn-lt"/>
              </a:rPr>
              <a:t>            Combo da </a:t>
            </a:r>
            <a:r>
              <a:rPr lang="de-DE" sz="1400" dirty="0" err="1">
                <a:latin typeface="Aptos Display"/>
                <a:ea typeface="+mn-lt"/>
                <a:cs typeface="+mn-lt"/>
              </a:rPr>
              <a:t>semana</a:t>
            </a:r>
            <a:endParaRPr lang="de-DE" sz="1400">
              <a:latin typeface="Aptos Display"/>
            </a:endParaRPr>
          </a:p>
          <a:p>
            <a:pPr algn="l"/>
            <a:r>
              <a:rPr lang="de-DE" sz="1400" dirty="0" err="1">
                <a:latin typeface="Aptos Display"/>
                <a:ea typeface="+mn-lt"/>
                <a:cs typeface="+mn-lt"/>
              </a:rPr>
              <a:t>Atendimento</a:t>
            </a:r>
            <a:r>
              <a:rPr lang="de-DE" sz="1400" dirty="0">
                <a:latin typeface="Aptos Display"/>
                <a:ea typeface="+mn-lt"/>
                <a:cs typeface="+mn-lt"/>
              </a:rPr>
              <a:t>         Das 18h </a:t>
            </a:r>
            <a:r>
              <a:rPr lang="de-DE" sz="1400" dirty="0" err="1">
                <a:latin typeface="Aptos Display"/>
                <a:ea typeface="+mn-lt"/>
                <a:cs typeface="+mn-lt"/>
              </a:rPr>
              <a:t>às</a:t>
            </a:r>
            <a:r>
              <a:rPr lang="de-DE" sz="1400" dirty="0">
                <a:latin typeface="Aptos Display"/>
                <a:ea typeface="+mn-lt"/>
                <a:cs typeface="+mn-lt"/>
              </a:rPr>
              <a:t> 00h</a:t>
            </a:r>
            <a:endParaRPr lang="de-DE" sz="1400">
              <a:latin typeface="Aptos Display"/>
            </a:endParaRPr>
          </a:p>
          <a:p>
            <a:pPr algn="l"/>
            <a:r>
              <a:rPr lang="de-DE" sz="1400" dirty="0" err="1">
                <a:latin typeface="Aptos Display"/>
                <a:ea typeface="+mn-lt"/>
                <a:cs typeface="+mn-lt"/>
              </a:rPr>
              <a:t>Entrega</a:t>
            </a:r>
            <a:r>
              <a:rPr lang="de-DE" sz="1400" dirty="0">
                <a:latin typeface="Aptos Display"/>
                <a:ea typeface="+mn-lt"/>
                <a:cs typeface="+mn-lt"/>
              </a:rPr>
              <a:t>                     </a:t>
            </a:r>
            <a:r>
              <a:rPr lang="de-DE" sz="1400" dirty="0" err="1">
                <a:latin typeface="Aptos Display"/>
                <a:ea typeface="+mn-lt"/>
                <a:cs typeface="+mn-lt"/>
              </a:rPr>
              <a:t>Até</a:t>
            </a:r>
            <a:r>
              <a:rPr lang="de-DE" sz="1400" dirty="0">
                <a:latin typeface="Aptos Display"/>
                <a:ea typeface="+mn-lt"/>
                <a:cs typeface="+mn-lt"/>
              </a:rPr>
              <a:t> 5 km da </a:t>
            </a:r>
            <a:r>
              <a:rPr lang="de-DE" sz="1400" dirty="0" err="1">
                <a:latin typeface="Aptos Display"/>
                <a:ea typeface="+mn-lt"/>
                <a:cs typeface="+mn-lt"/>
              </a:rPr>
              <a:t>loja</a:t>
            </a:r>
            <a:endParaRPr lang="de-DE" sz="1400" dirty="0">
              <a:latin typeface="Aptos Display"/>
              <a:ea typeface="+mn-lt"/>
              <a:cs typeface="+mn-lt"/>
            </a:endParaRPr>
          </a:p>
          <a:p>
            <a:pPr algn="l"/>
            <a:endParaRPr lang="de-DE" sz="1400" dirty="0"/>
          </a:p>
          <a:p>
            <a:pPr algn="l"/>
            <a:endParaRPr lang="de-DE" sz="1400" dirty="0"/>
          </a:p>
          <a:p>
            <a:pPr algn="l"/>
            <a:endParaRPr lang="de-DE" sz="1400" dirty="0"/>
          </a:p>
        </p:txBody>
      </p:sp>
    </p:spTree>
    <p:extLst>
      <p:ext uri="{BB962C8B-B14F-4D97-AF65-F5344CB8AC3E}">
        <p14:creationId xmlns:p14="http://schemas.microsoft.com/office/powerpoint/2010/main" val="22108665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57C0279-7DFE-394C-ADAC-13830A5936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0029" y="263525"/>
            <a:ext cx="10943771" cy="2631849"/>
          </a:xfrm>
        </p:spPr>
        <p:txBody>
          <a:bodyPr>
            <a:noAutofit/>
          </a:bodyPr>
          <a:lstStyle/>
          <a:p>
            <a:r>
              <a:rPr lang="pt-BR" sz="1600" b="1" i="1">
                <a:solidFill>
                  <a:schemeClr val="accent5">
                    <a:lumMod val="40000"/>
                    <a:lumOff val="60000"/>
                  </a:schemeClr>
                </a:solidFill>
              </a:rPr>
              <a:t>Possíveis erros identificados:</a:t>
            </a:r>
            <a:br>
              <a:rPr lang="pt-BR" sz="1600" b="1" i="1" dirty="0">
                <a:solidFill>
                  <a:schemeClr val="accent5">
                    <a:lumMod val="40000"/>
                    <a:lumOff val="60000"/>
                  </a:schemeClr>
                </a:solidFill>
              </a:rPr>
            </a:br>
            <a:endParaRPr lang="pt-BR" sz="1600" b="1" i="1" dirty="0">
              <a:solidFill>
                <a:schemeClr val="accent5">
                  <a:lumMod val="40000"/>
                  <a:lumOff val="60000"/>
                </a:schemeClr>
              </a:solidFill>
            </a:endParaRPr>
          </a:p>
          <a:p>
            <a:pPr marL="285750" indent="-285750">
              <a:buFont typeface="Arial"/>
              <a:buChar char="•"/>
            </a:pPr>
            <a:r>
              <a:rPr lang="pt-BR" sz="1400">
                <a:ea typeface="+mj-lt"/>
                <a:cs typeface="+mj-lt"/>
              </a:rPr>
              <a:t>Venda de produto sem estoque;</a:t>
            </a:r>
            <a:endParaRPr lang="pt-BR" sz="1400"/>
          </a:p>
          <a:p>
            <a:pPr marL="285750" indent="-285750">
              <a:buFont typeface="Arial"/>
              <a:buChar char="•"/>
            </a:pPr>
            <a:r>
              <a:rPr lang="pt-BR" sz="1400">
                <a:ea typeface="+mj-lt"/>
                <a:cs typeface="+mj-lt"/>
              </a:rPr>
              <a:t>Atraso na entrega;</a:t>
            </a:r>
            <a:endParaRPr lang="pt-BR" sz="1400"/>
          </a:p>
          <a:p>
            <a:pPr marL="285750" indent="-285750">
              <a:buFont typeface="Arial"/>
              <a:buChar char="•"/>
            </a:pPr>
            <a:r>
              <a:rPr lang="pt-BR" sz="1400">
                <a:ea typeface="+mj-lt"/>
                <a:cs typeface="+mj-lt"/>
              </a:rPr>
              <a:t>Pedido anotado errado;</a:t>
            </a:r>
            <a:endParaRPr lang="pt-BR" sz="1400"/>
          </a:p>
          <a:p>
            <a:pPr marL="285750" indent="-285750">
              <a:buFont typeface="Arial"/>
              <a:buChar char="•"/>
            </a:pPr>
            <a:r>
              <a:rPr lang="pt-BR" sz="1400">
                <a:ea typeface="+mj-lt"/>
                <a:cs typeface="+mj-lt"/>
              </a:rPr>
              <a:t>Falha na confirmação do pagamento;</a:t>
            </a:r>
            <a:endParaRPr lang="pt-BR" sz="1400"/>
          </a:p>
          <a:p>
            <a:pPr marL="285750" indent="-285750">
              <a:buFont typeface="Arial"/>
              <a:buChar char="•"/>
            </a:pPr>
            <a:r>
              <a:rPr lang="pt-BR" sz="1400">
                <a:ea typeface="+mj-lt"/>
                <a:cs typeface="+mj-lt"/>
              </a:rPr>
              <a:t>Falta de ingredientes durante o preparo;</a:t>
            </a:r>
            <a:endParaRPr lang="pt-BR" sz="1400"/>
          </a:p>
          <a:p>
            <a:pPr marL="285750" indent="-285750">
              <a:buFont typeface="Arial"/>
              <a:buChar char="•"/>
            </a:pPr>
            <a:r>
              <a:rPr lang="pt-BR" sz="1400">
                <a:ea typeface="+mj-lt"/>
                <a:cs typeface="+mj-lt"/>
              </a:rPr>
              <a:t>Não responder mensagens dos clientes rapidamente.</a:t>
            </a:r>
            <a:br>
              <a:rPr lang="pt-BR" sz="1400" b="1" i="1" dirty="0"/>
            </a:br>
            <a:endParaRPr lang="pt-BR" sz="1400" b="1" i="1">
              <a:solidFill>
                <a:schemeClr val="accent5">
                  <a:lumMod val="40000"/>
                  <a:lumOff val="6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8828010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Escritório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2</vt:i4>
      </vt:variant>
    </vt:vector>
  </HeadingPairs>
  <TitlesOfParts>
    <vt:vector size="3" baseType="lpstr">
      <vt:lpstr>Tema do Office</vt:lpstr>
      <vt:lpstr>Atividade: Agência de Propaganda e Marketing</vt:lpstr>
      <vt:lpstr>Possíveis erros identificados:  Venda de produto sem estoque; Atraso na entrega; Pedido anotado errado; Falha na confirmação do pagamento; Falta de ingredientes durante o preparo; Não responder mensagens dos clientes rapidamente.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174</cp:revision>
  <dcterms:created xsi:type="dcterms:W3CDTF">2026-07-20T17:09:09Z</dcterms:created>
  <dcterms:modified xsi:type="dcterms:W3CDTF">2026-07-20T18:31:10Z</dcterms:modified>
</cp:coreProperties>
</file>